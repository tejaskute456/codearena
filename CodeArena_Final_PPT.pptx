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69579-CEA1-D141-B041-59D2DA742DEF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A40DC-4EE2-4847-9596-1C2981577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2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CodeArena is an online coding contest platform, and this presentation shows how we planned it using Scrum and tracked it on a Kanban board. Sambhav, I149, and Tejas, I169.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big competitive programming sites can be overwhelming for beginners. Our solution is CodeArena, a simpler platform for college-level contests and practice. Walk the six cards left to right: register, solve, join contests, submit, get evaluated, and see rankings.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green arrows: a user registers, browses problems, joins a contest, submits code, the code is evaluated, and the result lands on the leaderboard. The Admin Dashboard sits underneath and manages users, problems, contests and submissions.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is split by layer. Sambhav owns everything the student sees: authentication, the frontend, problem and contest pages, the leaderboard UI, and testing. Tejas owns the engine: backend APIs, database design, code submission, code evaluation, and the admin dashboard. The same colours mark each person on the Kanban board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splits the build into three sprints: foundations first, then problems, contests and submission, then evaluation, leaderboard, admin and testing. The Kanban board is a snapshot mid Sprint 2: Sprint 1 work is done, the Problem API is in testing, and the contest page and code submission are in progress. Each card shows its owner, S for Sambhav and T for Tejas.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board in JIRA or Miro here, pointing out the same five columns. Then wrap up with the four takeaways, thank the audience,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13" Type="http://schemas.openxmlformats.org/officeDocument/2006/relationships/image" Target="../media/image21.png" /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12" Type="http://schemas.openxmlformats.org/officeDocument/2006/relationships/image" Target="../media/image2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.png" /><Relationship Id="rId11" Type="http://schemas.openxmlformats.org/officeDocument/2006/relationships/image" Target="../media/image19.png" /><Relationship Id="rId5" Type="http://schemas.openxmlformats.org/officeDocument/2006/relationships/image" Target="../media/image13.png" /><Relationship Id="rId10" Type="http://schemas.openxmlformats.org/officeDocument/2006/relationships/image" Target="../media/image18.png" /><Relationship Id="rId4" Type="http://schemas.openxmlformats.org/officeDocument/2006/relationships/image" Target="../media/image12.png" /><Relationship Id="rId9" Type="http://schemas.openxmlformats.org/officeDocument/2006/relationships/image" Target="../media/image17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22.png" /><Relationship Id="rId7" Type="http://schemas.openxmlformats.org/officeDocument/2006/relationships/image" Target="../media/image26.png" /><Relationship Id="rId12" Type="http://schemas.openxmlformats.org/officeDocument/2006/relationships/image" Target="../media/image3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5.png" /><Relationship Id="rId11" Type="http://schemas.openxmlformats.org/officeDocument/2006/relationships/image" Target="../media/image30.png" /><Relationship Id="rId5" Type="http://schemas.openxmlformats.org/officeDocument/2006/relationships/image" Target="../media/image24.png" /><Relationship Id="rId10" Type="http://schemas.openxmlformats.org/officeDocument/2006/relationships/image" Target="../media/image29.png" /><Relationship Id="rId4" Type="http://schemas.openxmlformats.org/officeDocument/2006/relationships/image" Target="../media/image23.png" /><Relationship Id="rId9" Type="http://schemas.openxmlformats.org/officeDocument/2006/relationships/image" Target="../media/image2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.png" /><Relationship Id="rId4" Type="http://schemas.openxmlformats.org/officeDocument/2006/relationships/image" Target="../media/image3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3550"/>
              </a:gs>
              <a:gs pos="58000">
                <a:srgbClr val="0E1726"/>
              </a:gs>
            </a:gsLst>
            <a:path path="circle">
              <a:fillToRect l="78000" t="40000" r="22000" b="6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499890"/>
            <a:ext cx="54940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5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Software Engineering · IPD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1908820"/>
            <a:ext cx="5494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kern="0" spc="-2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</a:t>
            </a:r>
            <a:r>
              <a:rPr lang="en-US" sz="7000" b="1" kern="0" spc="-200" dirty="0">
                <a:solidFill>
                  <a:srgbClr val="3DDC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Arena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812800" y="2975620"/>
            <a:ext cx="5494020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Coding Contest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971280"/>
            <a:ext cx="54940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Scrum-Based Project Planning &amp; Kanban 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9150" y="4592290"/>
            <a:ext cx="2065040" cy="759420"/>
          </a:xfrm>
          <a:prstGeom prst="roundRect">
            <a:avLst>
              <a:gd name="adj" fmla="val 14215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500" y="47688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1097955" y="4838650"/>
            <a:ext cx="1662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5900" y="4725640"/>
            <a:ext cx="12395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Sambhav</a:t>
            </a:r>
            <a:r>
              <a:rPr lang="en-IN" sz="15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IN" sz="1500" b="1" dirty="0" err="1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5900" y="5005040"/>
            <a:ext cx="1239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I149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9290" y="4592290"/>
            <a:ext cx="2065040" cy="759420"/>
          </a:xfrm>
          <a:prstGeom prst="roundRect">
            <a:avLst>
              <a:gd name="adj" fmla="val 14215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640" y="47688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3329831" y="4838650"/>
            <a:ext cx="1628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16040" y="4725640"/>
            <a:ext cx="12395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Tejas</a:t>
            </a:r>
            <a:r>
              <a:rPr lang="en-IN" sz="15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</a:t>
            </a:r>
            <a:r>
              <a:rPr lang="en-IN" sz="1500" b="1" dirty="0" err="1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Kute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16040" y="5005040"/>
            <a:ext cx="1239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I169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0350" y="1593850"/>
            <a:ext cx="4762500" cy="3543300"/>
          </a:xfrm>
          <a:prstGeom prst="roundRect">
            <a:avLst>
              <a:gd name="adj" fmla="val 4122"/>
            </a:avLst>
          </a:prstGeom>
          <a:solidFill>
            <a:srgbClr val="111D31"/>
          </a:solidFill>
          <a:ln w="12700">
            <a:solidFill>
              <a:srgbClr val="26385A"/>
            </a:solidFill>
            <a:prstDash val="solid"/>
          </a:ln>
          <a:effectLst>
            <a:outerShdw blurRad="508000" dist="2032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6700" y="1600200"/>
            <a:ext cx="4749800" cy="480020"/>
          </a:xfrm>
          <a:custGeom>
            <a:avLst/>
            <a:gdLst/>
            <a:ahLst/>
            <a:cxnLst/>
            <a:rect l="l" t="t" r="r" b="b"/>
            <a:pathLst>
              <a:path w="4749800" h="480020">
                <a:moveTo>
                  <a:pt x="0" y="139700"/>
                </a:moveTo>
                <a:arcTo wR="139700" hR="139700" stAng="10800000" swAng="5400000"/>
                <a:lnTo>
                  <a:pt x="4610100" y="0"/>
                </a:lnTo>
                <a:arcTo wR="139700" hR="139700" stAng="16200000" swAng="5400000"/>
                <a:lnTo>
                  <a:pt x="4749800" y="480020"/>
                </a:lnTo>
                <a:lnTo>
                  <a:pt x="0" y="480020"/>
                </a:lnTo>
                <a:close/>
              </a:path>
            </a:pathLst>
          </a:custGeom>
          <a:solidFill>
            <a:srgbClr val="1623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616700" y="1600200"/>
            <a:ext cx="4749800" cy="480020"/>
          </a:xfrm>
          <a:custGeom>
            <a:avLst/>
            <a:gdLst/>
            <a:ahLst/>
            <a:cxnLst/>
            <a:rect l="l" t="t" r="r" b="b"/>
            <a:pathLst>
              <a:path w="4749800" h="480020">
                <a:moveTo>
                  <a:pt x="0" y="467320"/>
                </a:moveTo>
                <a:lnTo>
                  <a:pt x="4749800" y="467320"/>
                </a:lnTo>
                <a:lnTo>
                  <a:pt x="4749800" y="480020"/>
                </a:lnTo>
                <a:lnTo>
                  <a:pt x="0" y="480020"/>
                </a:lnTo>
                <a:lnTo>
                  <a:pt x="0" y="467320"/>
                </a:lnTo>
                <a:close/>
              </a:path>
            </a:pathLst>
          </a:custGeom>
          <a:solidFill>
            <a:srgbClr val="2638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794500" y="17767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6985000" y="17767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2" name="Shape 20"/>
          <p:cNvSpPr/>
          <p:nvPr/>
        </p:nvSpPr>
        <p:spPr>
          <a:xfrm>
            <a:off x="7175500" y="177671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23" name="Text 21"/>
          <p:cNvSpPr/>
          <p:nvPr/>
        </p:nvSpPr>
        <p:spPr>
          <a:xfrm>
            <a:off x="7493000" y="1727200"/>
            <a:ext cx="965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contest.py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5300" y="2283420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00900" y="2283420"/>
            <a:ext cx="2417379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CodeArena judge 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45300" y="2608511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00900" y="2608511"/>
            <a:ext cx="285702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 </a:t>
            </a:r>
            <a:r>
              <a:rPr lang="en-US" sz="1400" dirty="0">
                <a:solidFill>
                  <a:srgbClr val="C792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contest.problems: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5300" y="2933601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2700" y="2933601"/>
            <a:ext cx="1758168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= </a:t>
            </a:r>
            <a:r>
              <a:rPr lang="en-US" sz="140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submit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45300" y="3258691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2700" y="3258691"/>
            <a:ext cx="2307519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verdict = </a:t>
            </a:r>
            <a:r>
              <a:rPr lang="en-US" sz="140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judge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(code)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45300" y="3583781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32700" y="3583781"/>
            <a:ext cx="2307570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board.</a:t>
            </a:r>
            <a:r>
              <a:rPr lang="en-US" sz="140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(verdict)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45300" y="3908871"/>
            <a:ext cx="22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6B7F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00900" y="3908871"/>
            <a:ext cx="1868028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2AA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400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"Accepted"</a:t>
            </a:r>
            <a:r>
              <a:rPr lang="en-US" sz="1400" dirty="0">
                <a:solidFill>
                  <a:srgbClr val="EEF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1650" y="4542830"/>
            <a:ext cx="3535660" cy="378420"/>
          </a:xfrm>
          <a:prstGeom prst="roundRect">
            <a:avLst>
              <a:gd name="adj" fmla="val 50000"/>
            </a:avLst>
          </a:prstGeom>
          <a:solidFill>
            <a:srgbClr val="123A33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37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10400" y="4630440"/>
            <a:ext cx="203200" cy="2032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302500" y="4625380"/>
            <a:ext cx="30138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 · all test cases passed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A65169-782B-BD58-629C-052D5B979787}"/>
              </a:ext>
            </a:extLst>
          </p:cNvPr>
          <p:cNvSpPr txBox="1"/>
          <p:nvPr/>
        </p:nvSpPr>
        <p:spPr>
          <a:xfrm>
            <a:off x="5181179" y="251502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7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CodeArena?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5255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online coding contest platform designed for college students.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254200"/>
            <a:ext cx="4762500" cy="1290241"/>
          </a:xfrm>
          <a:prstGeom prst="roundRect">
            <a:avLst>
              <a:gd name="adj" fmla="val 9351"/>
            </a:avLst>
          </a:prstGeom>
          <a:solidFill>
            <a:srgbClr val="FFF3E2"/>
          </a:solidFill>
          <a:ln w="12700">
            <a:solidFill>
              <a:srgbClr val="FFB454"/>
            </a:solidFill>
            <a:prstDash val="solid"/>
          </a:ln>
        </p:spPr>
      </p:sp>
      <p:pic>
        <p:nvPicPr>
          <p:cNvPr id="6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4100" y="2463750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7000" y="2484090"/>
            <a:ext cx="7798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5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4100" y="2806650"/>
            <a:ext cx="442137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Large competitive programming platforms can overwhelm beginners.</a:t>
            </a:r>
            <a:endParaRPr lang="en-US" sz="1600" dirty="0"/>
          </a:p>
        </p:txBody>
      </p:sp>
      <p:pic>
        <p:nvPicPr>
          <p:cNvPr id="9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91200" y="2746921"/>
            <a:ext cx="609600" cy="304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10350" y="2254200"/>
            <a:ext cx="4762500" cy="1290241"/>
          </a:xfrm>
          <a:prstGeom prst="roundRect">
            <a:avLst>
              <a:gd name="adj" fmla="val 9351"/>
            </a:avLst>
          </a:prstGeom>
          <a:solidFill>
            <a:srgbClr val="E4F7EE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11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45300" y="2463750"/>
            <a:ext cx="254000" cy="254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88200" y="2484090"/>
            <a:ext cx="8839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37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845300" y="2806650"/>
            <a:ext cx="442137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simple platform focused on college-level contests and practice.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12800" y="377939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STUDENTS CAN DO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9150" y="4100661"/>
            <a:ext cx="1642517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16" name="Image 3" descr="User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7900" y="4259411"/>
            <a:ext cx="279400" cy="279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7900" y="4640411"/>
            <a:ext cx="137581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 &amp; build profiles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2601367" y="4100661"/>
            <a:ext cx="1642566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19" name="Image 4" descr="Cod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60117" y="4259411"/>
            <a:ext cx="279400" cy="279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760117" y="4640411"/>
            <a:ext cx="1375866" cy="6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Solve programming problems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383633" y="4100661"/>
            <a:ext cx="1642517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22" name="Image 5" descr="Sta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42383" y="4259411"/>
            <a:ext cx="279400" cy="2794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542383" y="4640411"/>
            <a:ext cx="137581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Join coding contests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165850" y="4100661"/>
            <a:ext cx="1642566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25" name="Image 6" descr="PaperPlan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324600" y="4259411"/>
            <a:ext cx="279400" cy="2794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24600" y="4640411"/>
            <a:ext cx="13758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Submit solutions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7948116" y="4100661"/>
            <a:ext cx="1642517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28" name="Image 7" descr="Verified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06866" y="4259411"/>
            <a:ext cx="279400" cy="2794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106866" y="4640411"/>
            <a:ext cx="1375817" cy="644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evaluates submissions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9730333" y="4100661"/>
            <a:ext cx="1642517" cy="1317625"/>
          </a:xfrm>
          <a:prstGeom prst="roundRect">
            <a:avLst>
              <a:gd name="adj" fmla="val 915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pic>
        <p:nvPicPr>
          <p:cNvPr id="31" name="Image 8" descr="Chart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889083" y="4259411"/>
            <a:ext cx="279400" cy="2794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889083" y="4640411"/>
            <a:ext cx="137581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View rankings &amp; performance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812800" y="6238280"/>
            <a:ext cx="2542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CodeArena · Sambhav &amp; Tejas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10739090" y="623828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Module-Wise Division of the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6827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84909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pic>
        <p:nvPicPr>
          <p:cNvPr id="6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1700" y="184145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3300" y="2108150"/>
            <a:ext cx="27470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3300" y="2430711"/>
            <a:ext cx="274701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Registration · Login · Profile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8350" y="16827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2500" y="184909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pic>
        <p:nvPicPr>
          <p:cNvPr id="11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0900" y="184145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0" y="2108150"/>
            <a:ext cx="27470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Management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62500" y="2430711"/>
            <a:ext cx="274701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Problems · Difficulty · Test Cases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37550" y="16827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21700" y="184909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pic>
        <p:nvPicPr>
          <p:cNvPr id="16" name="Image 2" descr="Sta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960100" y="184145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1700" y="2108150"/>
            <a:ext cx="27470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Contest Management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21700" y="2430711"/>
            <a:ext cx="274701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Creation · Scheduling · Registration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337550" y="33591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21700" y="352549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pic>
        <p:nvPicPr>
          <p:cNvPr id="21" name="Image 3" descr="Cod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0100" y="351785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21700" y="3784550"/>
            <a:ext cx="27470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Submission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521700" y="4107111"/>
            <a:ext cx="274701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Editor · Language · Submit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8350" y="33591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62500" y="352549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pic>
        <p:nvPicPr>
          <p:cNvPr id="26" name="Image 4" descr="CheckCircl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00900" y="351785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62500" y="3784550"/>
            <a:ext cx="27470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Evaluation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62500" y="4107111"/>
            <a:ext cx="274701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Compilation · Test Cases · Verdict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150" y="3359100"/>
            <a:ext cx="3035300" cy="1257300"/>
          </a:xfrm>
          <a:prstGeom prst="roundRect">
            <a:avLst>
              <a:gd name="adj" fmla="val 9596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003300" y="351795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  <p:pic>
        <p:nvPicPr>
          <p:cNvPr id="31" name="Image 5" descr="Chart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441700" y="3510359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3300" y="3769519"/>
            <a:ext cx="274701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21"/>
              </a:lnSpc>
              <a:buNone/>
            </a:pPr>
            <a:r>
              <a:rPr lang="en-US" sz="1515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Leaderboard</a:t>
            </a:r>
            <a:endParaRPr lang="en-US" sz="1515" dirty="0"/>
          </a:p>
        </p:txBody>
      </p:sp>
      <p:sp>
        <p:nvSpPr>
          <p:cNvPr id="33" name="Text 25"/>
          <p:cNvSpPr/>
          <p:nvPr/>
        </p:nvSpPr>
        <p:spPr>
          <a:xfrm>
            <a:off x="1003300" y="4073327"/>
            <a:ext cx="2747010" cy="409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4"/>
              </a:lnSpc>
              <a:buNone/>
            </a:pPr>
            <a:r>
              <a:rPr lang="en-US" sz="1144" dirty="0">
                <a:solidFill>
                  <a:srgbClr val="A9B8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Scores · Rankings · Submission History</a:t>
            </a:r>
            <a:endParaRPr lang="en-US" sz="1144" dirty="0"/>
          </a:p>
        </p:txBody>
      </p:sp>
      <p:sp>
        <p:nvSpPr>
          <p:cNvPr id="34" name="Shape 26"/>
          <p:cNvSpPr/>
          <p:nvPr/>
        </p:nvSpPr>
        <p:spPr>
          <a:xfrm>
            <a:off x="812800" y="5079950"/>
            <a:ext cx="10566400" cy="698500"/>
          </a:xfrm>
          <a:prstGeom prst="roundRect">
            <a:avLst>
              <a:gd name="adj" fmla="val 18182"/>
            </a:avLst>
          </a:prstGeom>
          <a:solidFill>
            <a:srgbClr val="FFB454"/>
          </a:solidFill>
          <a:ln/>
        </p:spPr>
      </p:sp>
      <p:pic>
        <p:nvPicPr>
          <p:cNvPr id="35" name="Image 6" descr="Tool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41400" y="5289500"/>
            <a:ext cx="279400" cy="279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60500" y="532254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1783110" y="5278090"/>
            <a:ext cx="188713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Dashboard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3754983" y="5322540"/>
            <a:ext cx="174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2A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manages every module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041207" y="5271740"/>
            <a:ext cx="662533" cy="31492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40" name="Text 31"/>
          <p:cNvSpPr/>
          <p:nvPr/>
        </p:nvSpPr>
        <p:spPr>
          <a:xfrm>
            <a:off x="7168207" y="5322540"/>
            <a:ext cx="459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B4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7843441" y="5271740"/>
            <a:ext cx="932359" cy="31492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42" name="Text 33"/>
          <p:cNvSpPr/>
          <p:nvPr/>
        </p:nvSpPr>
        <p:spPr>
          <a:xfrm>
            <a:off x="7970441" y="5322540"/>
            <a:ext cx="7291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B4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Problems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8915499" y="5271740"/>
            <a:ext cx="920601" cy="31492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44" name="Text 35"/>
          <p:cNvSpPr/>
          <p:nvPr/>
        </p:nvSpPr>
        <p:spPr>
          <a:xfrm>
            <a:off x="9042499" y="5322540"/>
            <a:ext cx="717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B4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Contests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9975800" y="5271740"/>
            <a:ext cx="1174800" cy="31492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46" name="Text 37"/>
          <p:cNvSpPr/>
          <p:nvPr/>
        </p:nvSpPr>
        <p:spPr>
          <a:xfrm>
            <a:off x="10102800" y="5322540"/>
            <a:ext cx="971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B4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Submissions</a:t>
            </a:r>
            <a:endParaRPr lang="en-US" sz="1200" dirty="0"/>
          </a:p>
        </p:txBody>
      </p:sp>
      <p:pic>
        <p:nvPicPr>
          <p:cNvPr id="47" name="Image 7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10000" y="2260550"/>
            <a:ext cx="812800" cy="101600"/>
          </a:xfrm>
          <a:prstGeom prst="rect">
            <a:avLst/>
          </a:prstGeom>
        </p:spPr>
      </p:pic>
      <p:pic>
        <p:nvPicPr>
          <p:cNvPr id="48" name="Image 8" descr="connector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569200" y="2260550"/>
            <a:ext cx="812800" cy="101600"/>
          </a:xfrm>
          <a:prstGeom prst="rect">
            <a:avLst/>
          </a:prstGeom>
        </p:spPr>
      </p:pic>
      <p:pic>
        <p:nvPicPr>
          <p:cNvPr id="49" name="Image 9" descr="connector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804400" y="2895550"/>
            <a:ext cx="101600" cy="508000"/>
          </a:xfrm>
          <a:prstGeom prst="rect">
            <a:avLst/>
          </a:prstGeom>
        </p:spPr>
      </p:pic>
      <p:pic>
        <p:nvPicPr>
          <p:cNvPr id="50" name="Image 10" descr="connector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69200" y="3936950"/>
            <a:ext cx="812800" cy="101600"/>
          </a:xfrm>
          <a:prstGeom prst="rect">
            <a:avLst/>
          </a:prstGeom>
        </p:spPr>
      </p:pic>
      <p:pic>
        <p:nvPicPr>
          <p:cNvPr id="51" name="Image 11" descr="connector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810000" y="3936950"/>
            <a:ext cx="812800" cy="101600"/>
          </a:xfrm>
          <a:prstGeom prst="rect">
            <a:avLst/>
          </a:prstGeom>
        </p:spPr>
      </p:pic>
      <p:pic>
        <p:nvPicPr>
          <p:cNvPr id="52" name="Image 12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286000" y="4571950"/>
            <a:ext cx="101600" cy="558800"/>
          </a:xfrm>
          <a:prstGeom prst="rect">
            <a:avLst/>
          </a:prstGeom>
        </p:spPr>
      </p:pic>
      <p:pic>
        <p:nvPicPr>
          <p:cNvPr id="53" name="Image 13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045200" y="4571950"/>
            <a:ext cx="101600" cy="558800"/>
          </a:xfrm>
          <a:prstGeom prst="rect">
            <a:avLst/>
          </a:prstGeom>
        </p:spPr>
      </p:pic>
      <p:pic>
        <p:nvPicPr>
          <p:cNvPr id="54" name="Image 14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804400" y="4571950"/>
            <a:ext cx="101600" cy="55880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812800" y="6238280"/>
            <a:ext cx="4897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Green arrows: student flow · Dashed: admin oversight</a:t>
            </a:r>
            <a:endParaRPr lang="en-US" sz="1200" dirty="0"/>
          </a:p>
        </p:txBody>
      </p:sp>
      <p:sp>
        <p:nvSpPr>
          <p:cNvPr id="56" name="Text 39"/>
          <p:cNvSpPr/>
          <p:nvPr/>
        </p:nvSpPr>
        <p:spPr>
          <a:xfrm>
            <a:off x="10739090" y="623828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37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Task Assignment to Group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58900"/>
            <a:ext cx="5118100" cy="3845520"/>
          </a:xfrm>
          <a:prstGeom prst="roundRect">
            <a:avLst>
              <a:gd name="adj" fmla="val 3798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500" y="1765250"/>
            <a:ext cx="5105400" cy="911820"/>
          </a:xfrm>
          <a:custGeom>
            <a:avLst/>
            <a:gdLst/>
            <a:ahLst/>
            <a:cxnLst/>
            <a:rect l="l" t="t" r="r" b="b"/>
            <a:pathLst>
              <a:path w="5105400" h="911820">
                <a:moveTo>
                  <a:pt x="0" y="139700"/>
                </a:moveTo>
                <a:arcTo wR="139700" hR="139700" stAng="10800000" swAng="5400000"/>
                <a:lnTo>
                  <a:pt x="4965700" y="0"/>
                </a:lnTo>
                <a:arcTo wR="139700" hR="139700" stAng="16200000" swAng="5400000"/>
                <a:lnTo>
                  <a:pt x="5105400" y="911820"/>
                </a:lnTo>
                <a:lnTo>
                  <a:pt x="0" y="911820"/>
                </a:lnTo>
                <a:close/>
              </a:path>
            </a:pathLst>
          </a:custGeom>
          <a:solidFill>
            <a:srgbClr val="3DDC97"/>
          </a:solidFill>
          <a:ln/>
        </p:spPr>
      </p:sp>
      <p:sp>
        <p:nvSpPr>
          <p:cNvPr id="6" name="Shape 4"/>
          <p:cNvSpPr/>
          <p:nvPr/>
        </p:nvSpPr>
        <p:spPr>
          <a:xfrm>
            <a:off x="1054100" y="19417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7" name="Text 5"/>
          <p:cNvSpPr/>
          <p:nvPr/>
        </p:nvSpPr>
        <p:spPr>
          <a:xfrm>
            <a:off x="1248817" y="2025600"/>
            <a:ext cx="22011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DC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65300" y="1930350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Sambhav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65300" y="229865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I149 · Frontend &amp;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8700" y="28294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11" name="Shape 9"/>
          <p:cNvSpPr/>
          <p:nvPr/>
        </p:nvSpPr>
        <p:spPr>
          <a:xfrm>
            <a:off x="1092200" y="28929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12" name="Image 0" descr="Ke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2050" y="2962821"/>
            <a:ext cx="190500" cy="190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49400" y="2924721"/>
            <a:ext cx="19048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28700" y="33628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92200" y="34263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16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2050" y="3496221"/>
            <a:ext cx="190500" cy="1905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49400" y="3458121"/>
            <a:ext cx="11142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 UI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028700" y="38962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19" name="Shape 15"/>
          <p:cNvSpPr/>
          <p:nvPr/>
        </p:nvSpPr>
        <p:spPr>
          <a:xfrm>
            <a:off x="1092200" y="39597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20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62050" y="4029621"/>
            <a:ext cx="190500" cy="190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49400" y="3991521"/>
            <a:ext cx="23619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&amp; Contest Pages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1028700" y="44296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23" name="Shape 18"/>
          <p:cNvSpPr/>
          <p:nvPr/>
        </p:nvSpPr>
        <p:spPr>
          <a:xfrm>
            <a:off x="1092200" y="44931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24" name="Image 3" descr="Char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050" y="4563021"/>
            <a:ext cx="190500" cy="1905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49400" y="4524921"/>
            <a:ext cx="21259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Leaderboard Interface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1028700" y="49630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27" name="Shape 21"/>
          <p:cNvSpPr/>
          <p:nvPr/>
        </p:nvSpPr>
        <p:spPr>
          <a:xfrm>
            <a:off x="1092200" y="50265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28" name="Image 4" descr="CheckCircl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2050" y="5096421"/>
            <a:ext cx="190500" cy="1905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49400" y="5058321"/>
            <a:ext cx="7289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254750" y="1758900"/>
            <a:ext cx="5118100" cy="3845520"/>
          </a:xfrm>
          <a:prstGeom prst="roundRect">
            <a:avLst>
              <a:gd name="adj" fmla="val 3798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61100" y="1765250"/>
            <a:ext cx="5105400" cy="911820"/>
          </a:xfrm>
          <a:custGeom>
            <a:avLst/>
            <a:gdLst/>
            <a:ahLst/>
            <a:cxnLst/>
            <a:rect l="l" t="t" r="r" b="b"/>
            <a:pathLst>
              <a:path w="5105400" h="911820">
                <a:moveTo>
                  <a:pt x="0" y="139700"/>
                </a:moveTo>
                <a:arcTo wR="139700" hR="139700" stAng="10800000" swAng="5400000"/>
                <a:lnTo>
                  <a:pt x="4965700" y="0"/>
                </a:lnTo>
                <a:arcTo wR="139700" hR="139700" stAng="16200000" swAng="5400000"/>
                <a:lnTo>
                  <a:pt x="5105400" y="911820"/>
                </a:lnTo>
                <a:lnTo>
                  <a:pt x="0" y="91182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32" name="Shape 25"/>
          <p:cNvSpPr/>
          <p:nvPr/>
        </p:nvSpPr>
        <p:spPr>
          <a:xfrm>
            <a:off x="6489700" y="1941761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E1726"/>
          </a:solidFill>
          <a:ln/>
        </p:spPr>
      </p:sp>
      <p:sp>
        <p:nvSpPr>
          <p:cNvPr id="33" name="Text 26"/>
          <p:cNvSpPr/>
          <p:nvPr/>
        </p:nvSpPr>
        <p:spPr>
          <a:xfrm>
            <a:off x="6686947" y="2025600"/>
            <a:ext cx="2151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4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2200" dirty="0"/>
          </a:p>
        </p:txBody>
      </p:sp>
      <p:sp>
        <p:nvSpPr>
          <p:cNvPr id="34" name="Text 27"/>
          <p:cNvSpPr/>
          <p:nvPr/>
        </p:nvSpPr>
        <p:spPr>
          <a:xfrm>
            <a:off x="7200900" y="1930350"/>
            <a:ext cx="2542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Tejas</a:t>
            </a:r>
            <a:endParaRPr lang="en-US" sz="2000" dirty="0"/>
          </a:p>
        </p:txBody>
      </p:sp>
      <p:sp>
        <p:nvSpPr>
          <p:cNvPr id="35" name="Text 28"/>
          <p:cNvSpPr/>
          <p:nvPr/>
        </p:nvSpPr>
        <p:spPr>
          <a:xfrm>
            <a:off x="7200900" y="2298650"/>
            <a:ext cx="25429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I169 · Backend &amp; Evaluation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464300" y="28294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37" name="Shape 30"/>
          <p:cNvSpPr/>
          <p:nvPr/>
        </p:nvSpPr>
        <p:spPr>
          <a:xfrm>
            <a:off x="6527800" y="28929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38" name="Image 5" descr="Link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97650" y="2962821"/>
            <a:ext cx="190500" cy="1905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85000" y="2924721"/>
            <a:ext cx="12785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APIs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6464300" y="33628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41" name="Shape 33"/>
          <p:cNvSpPr/>
          <p:nvPr/>
        </p:nvSpPr>
        <p:spPr>
          <a:xfrm>
            <a:off x="6527800" y="34263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42" name="Image 6" descr="Database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97650" y="3496221"/>
            <a:ext cx="190500" cy="1905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985000" y="3458121"/>
            <a:ext cx="15938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6464300" y="38962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45" name="Shape 36"/>
          <p:cNvSpPr/>
          <p:nvPr/>
        </p:nvSpPr>
        <p:spPr>
          <a:xfrm>
            <a:off x="6527800" y="39597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46" name="Image 7" descr="PaperPlane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97650" y="4029621"/>
            <a:ext cx="190500" cy="1905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985000" y="3991521"/>
            <a:ext cx="16222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Submission</a:t>
            </a:r>
            <a:endParaRPr lang="en-US" sz="1500" dirty="0"/>
          </a:p>
        </p:txBody>
      </p:sp>
      <p:sp>
        <p:nvSpPr>
          <p:cNvPr id="48" name="Shape 38"/>
          <p:cNvSpPr/>
          <p:nvPr/>
        </p:nvSpPr>
        <p:spPr>
          <a:xfrm>
            <a:off x="6464300" y="44296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49" name="Shape 39"/>
          <p:cNvSpPr/>
          <p:nvPr/>
        </p:nvSpPr>
        <p:spPr>
          <a:xfrm>
            <a:off x="6527800" y="44931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50" name="Image 8" descr="Settings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97650" y="4563021"/>
            <a:ext cx="190500" cy="1905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985000" y="4524921"/>
            <a:ext cx="152965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Evaluation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6464300" y="4963071"/>
            <a:ext cx="4699000" cy="457200"/>
          </a:xfrm>
          <a:prstGeom prst="roundRect">
            <a:avLst>
              <a:gd name="adj" fmla="val 19444"/>
            </a:avLst>
          </a:prstGeom>
          <a:solidFill>
            <a:srgbClr val="F4F6F1"/>
          </a:solidFill>
          <a:ln/>
        </p:spPr>
      </p:sp>
      <p:sp>
        <p:nvSpPr>
          <p:cNvPr id="53" name="Shape 42"/>
          <p:cNvSpPr/>
          <p:nvPr/>
        </p:nvSpPr>
        <p:spPr>
          <a:xfrm>
            <a:off x="6527800" y="5026571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0E1726"/>
          </a:solidFill>
          <a:ln/>
        </p:spPr>
      </p:sp>
      <p:pic>
        <p:nvPicPr>
          <p:cNvPr id="54" name="Image 9" descr="Tool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97650" y="5096421"/>
            <a:ext cx="190500" cy="19050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6985000" y="5058321"/>
            <a:ext cx="16662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56" name="Text 44"/>
          <p:cNvSpPr/>
          <p:nvPr/>
        </p:nvSpPr>
        <p:spPr>
          <a:xfrm>
            <a:off x="812800" y="6238280"/>
            <a:ext cx="2542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CodeArena · Sambhav &amp; Tejas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10739090" y="623828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dirty="0">
                <a:solidFill>
                  <a:srgbClr val="137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Planning</a:t>
            </a:r>
            <a:endParaRPr lang="en-US" sz="1159" dirty="0"/>
          </a:p>
        </p:txBody>
      </p:sp>
      <p:sp>
        <p:nvSpPr>
          <p:cNvPr id="3" name="Text 1"/>
          <p:cNvSpPr/>
          <p:nvPr/>
        </p:nvSpPr>
        <p:spPr>
          <a:xfrm>
            <a:off x="812800" y="1068388"/>
            <a:ext cx="10883392" cy="45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21"/>
              </a:lnSpc>
              <a:buNone/>
            </a:pPr>
            <a:r>
              <a:rPr lang="en-US" sz="3110" b="1" kern="0" spc="-5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Scrum Sprint Plan &amp; Kanban Board</a:t>
            </a:r>
            <a:endParaRPr lang="en-US" sz="3110" dirty="0"/>
          </a:p>
        </p:txBody>
      </p:sp>
      <p:sp>
        <p:nvSpPr>
          <p:cNvPr id="4" name="Text 2"/>
          <p:cNvSpPr/>
          <p:nvPr/>
        </p:nvSpPr>
        <p:spPr>
          <a:xfrm>
            <a:off x="812800" y="1649859"/>
            <a:ext cx="10883392" cy="230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SCRUM SPRINT PLAN</a:t>
            </a:r>
            <a:endParaRPr lang="en-US" sz="1159" dirty="0"/>
          </a:p>
        </p:txBody>
      </p:sp>
      <p:sp>
        <p:nvSpPr>
          <p:cNvPr id="5" name="Shape 3"/>
          <p:cNvSpPr/>
          <p:nvPr/>
        </p:nvSpPr>
        <p:spPr>
          <a:xfrm>
            <a:off x="819150" y="1924794"/>
            <a:ext cx="3204617" cy="1384002"/>
          </a:xfrm>
          <a:prstGeom prst="roundRect">
            <a:avLst>
              <a:gd name="adj" fmla="val 7800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2045444"/>
            <a:ext cx="7499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Sprint 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5437" y="2059434"/>
            <a:ext cx="554980" cy="23872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8" name="Text 6"/>
          <p:cNvSpPr/>
          <p:nvPr/>
        </p:nvSpPr>
        <p:spPr>
          <a:xfrm>
            <a:off x="3424337" y="2072134"/>
            <a:ext cx="4279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2500" y="2388344"/>
            <a:ext cx="1175445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2407394"/>
            <a:ext cx="1073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78745" y="2388344"/>
            <a:ext cx="830511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12" name="Text 10"/>
          <p:cNvSpPr/>
          <p:nvPr/>
        </p:nvSpPr>
        <p:spPr>
          <a:xfrm>
            <a:off x="2254945" y="2407394"/>
            <a:ext cx="7289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2500" y="2690564"/>
            <a:ext cx="1388616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2709614"/>
            <a:ext cx="12870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91916" y="2690564"/>
            <a:ext cx="1263253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116" y="2709614"/>
            <a:ext cx="11616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Authentication</a:t>
            </a:r>
            <a:endParaRPr lang="en-US" sz="1200" dirty="0"/>
          </a:p>
        </p:txBody>
      </p:sp>
      <p:pic>
        <p:nvPicPr>
          <p:cNvPr id="1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31717" y="2540595"/>
            <a:ext cx="254000" cy="152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493667" y="1924794"/>
            <a:ext cx="3204666" cy="1384002"/>
          </a:xfrm>
          <a:prstGeom prst="roundRect">
            <a:avLst>
              <a:gd name="adj" fmla="val 7800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27017" y="2038796"/>
            <a:ext cx="777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Sprint 2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64561" y="2052786"/>
            <a:ext cx="1000423" cy="23872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8"/>
          <p:cNvSpPr/>
          <p:nvPr/>
        </p:nvSpPr>
        <p:spPr>
          <a:xfrm>
            <a:off x="6653461" y="2065486"/>
            <a:ext cx="873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27017" y="2375049"/>
            <a:ext cx="1757908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23" name="Text 20"/>
          <p:cNvSpPr/>
          <p:nvPr/>
        </p:nvSpPr>
        <p:spPr>
          <a:xfrm>
            <a:off x="4703217" y="2394099"/>
            <a:ext cx="16563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Management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27017" y="2677269"/>
            <a:ext cx="1750417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25" name="Text 22"/>
          <p:cNvSpPr/>
          <p:nvPr/>
        </p:nvSpPr>
        <p:spPr>
          <a:xfrm>
            <a:off x="4703217" y="2696319"/>
            <a:ext cx="16488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Contest Management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27017" y="2979489"/>
            <a:ext cx="1410345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27" name="Text 24"/>
          <p:cNvSpPr/>
          <p:nvPr/>
        </p:nvSpPr>
        <p:spPr>
          <a:xfrm>
            <a:off x="4703217" y="2998539"/>
            <a:ext cx="1308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Submission</a:t>
            </a:r>
            <a:endParaRPr lang="en-US" sz="1200" dirty="0"/>
          </a:p>
        </p:txBody>
      </p:sp>
      <p:pic>
        <p:nvPicPr>
          <p:cNvPr id="28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6283" y="2540595"/>
            <a:ext cx="254000" cy="1524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8168233" y="1924794"/>
            <a:ext cx="3204617" cy="1384002"/>
          </a:xfrm>
          <a:prstGeom prst="roundRect">
            <a:avLst>
              <a:gd name="adj" fmla="val 7800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01583" y="2045444"/>
            <a:ext cx="7796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Sprint 3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0468521" y="2059434"/>
            <a:ext cx="770979" cy="238720"/>
          </a:xfrm>
          <a:prstGeom prst="roundRect">
            <a:avLst>
              <a:gd name="adj" fmla="val 50000"/>
            </a:avLst>
          </a:prstGeom>
          <a:solidFill>
            <a:srgbClr val="E1E5EB"/>
          </a:solidFill>
          <a:ln/>
        </p:spPr>
      </p:sp>
      <p:sp>
        <p:nvSpPr>
          <p:cNvPr id="32" name="Text 28"/>
          <p:cNvSpPr/>
          <p:nvPr/>
        </p:nvSpPr>
        <p:spPr>
          <a:xfrm>
            <a:off x="10557421" y="2072134"/>
            <a:ext cx="6439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46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Planned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301583" y="2388344"/>
            <a:ext cx="1333649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34" name="Text 30"/>
          <p:cNvSpPr/>
          <p:nvPr/>
        </p:nvSpPr>
        <p:spPr>
          <a:xfrm>
            <a:off x="8377783" y="2407394"/>
            <a:ext cx="12320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Evaluation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9686032" y="2388344"/>
            <a:ext cx="1089223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36" name="Text 32"/>
          <p:cNvSpPr/>
          <p:nvPr/>
        </p:nvSpPr>
        <p:spPr>
          <a:xfrm>
            <a:off x="9762232" y="2407394"/>
            <a:ext cx="9876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8301583" y="2690564"/>
            <a:ext cx="1441896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38" name="Text 34"/>
          <p:cNvSpPr/>
          <p:nvPr/>
        </p:nvSpPr>
        <p:spPr>
          <a:xfrm>
            <a:off x="8377783" y="2709614"/>
            <a:ext cx="13402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9794280" y="2690564"/>
            <a:ext cx="694234" cy="251420"/>
          </a:xfrm>
          <a:prstGeom prst="roundRect">
            <a:avLst>
              <a:gd name="adj" fmla="val 25257"/>
            </a:avLst>
          </a:prstGeom>
          <a:solidFill>
            <a:srgbClr val="EDF0EA"/>
          </a:solidFill>
          <a:ln/>
        </p:spPr>
      </p:sp>
      <p:sp>
        <p:nvSpPr>
          <p:cNvPr id="40" name="Text 36"/>
          <p:cNvSpPr/>
          <p:nvPr/>
        </p:nvSpPr>
        <p:spPr>
          <a:xfrm>
            <a:off x="9870480" y="2709614"/>
            <a:ext cx="592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812800" y="3464421"/>
            <a:ext cx="3432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KANBAN BOARD · SPRINT 2 SNAPSHOT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9679831" y="3463131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43" name="Text 39"/>
          <p:cNvSpPr/>
          <p:nvPr/>
        </p:nvSpPr>
        <p:spPr>
          <a:xfrm>
            <a:off x="9741595" y="3464421"/>
            <a:ext cx="143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9971931" y="3464421"/>
            <a:ext cx="720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Sambhav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10717609" y="3463131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6" name="Text 42"/>
          <p:cNvSpPr/>
          <p:nvPr/>
        </p:nvSpPr>
        <p:spPr>
          <a:xfrm>
            <a:off x="10780713" y="3464421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11009709" y="3464421"/>
            <a:ext cx="4202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Tejas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812800" y="3738066"/>
            <a:ext cx="10566400" cy="2103934"/>
          </a:xfrm>
          <a:prstGeom prst="roundRect">
            <a:avLst>
              <a:gd name="adj" fmla="val 6036"/>
            </a:avLst>
          </a:prstGeom>
          <a:solidFill>
            <a:srgbClr val="E3E8E0"/>
          </a:solidFill>
          <a:ln/>
        </p:spPr>
      </p:sp>
      <p:sp>
        <p:nvSpPr>
          <p:cNvPr id="49" name="Shape 45"/>
          <p:cNvSpPr/>
          <p:nvPr/>
        </p:nvSpPr>
        <p:spPr>
          <a:xfrm>
            <a:off x="901700" y="3826966"/>
            <a:ext cx="2016720" cy="1926134"/>
          </a:xfrm>
          <a:prstGeom prst="roundRect">
            <a:avLst>
              <a:gd name="adj" fmla="val 4615"/>
            </a:avLst>
          </a:prstGeom>
          <a:solidFill>
            <a:srgbClr val="EEF1EB"/>
          </a:solidFill>
          <a:ln/>
        </p:spPr>
      </p:sp>
      <p:sp>
        <p:nvSpPr>
          <p:cNvPr id="50" name="Shape 46"/>
          <p:cNvSpPr/>
          <p:nvPr/>
        </p:nvSpPr>
        <p:spPr>
          <a:xfrm>
            <a:off x="901700" y="3826966"/>
            <a:ext cx="2016720" cy="1926134"/>
          </a:xfrm>
          <a:custGeom>
            <a:avLst/>
            <a:gdLst/>
            <a:ahLst/>
            <a:cxnLst/>
            <a:rect l="l" t="t" r="r" b="b"/>
            <a:pathLst>
              <a:path w="2016720" h="1926134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1927820" y="0"/>
                </a:lnTo>
                <a:arcTo wR="88900" hR="88900" stAng="16200000" swAng="5400000"/>
                <a:lnTo>
                  <a:pt x="2016720" y="88900"/>
                </a:lnTo>
                <a:arcTo wR="88900" hR="50800" stAng="0" swAng="-5400000"/>
                <a:lnTo>
                  <a:pt x="88900" y="38100"/>
                </a:lnTo>
                <a:arcTo wR="88900" hR="50800" stAng="16200000" swAng="-5400000"/>
                <a:close/>
              </a:path>
            </a:pathLst>
          </a:custGeom>
          <a:solidFill>
            <a:srgbClr val="A9B3C1"/>
          </a:solidFill>
          <a:ln/>
        </p:spPr>
      </p:sp>
      <p:sp>
        <p:nvSpPr>
          <p:cNvPr id="51" name="Text 47"/>
          <p:cNvSpPr/>
          <p:nvPr/>
        </p:nvSpPr>
        <p:spPr>
          <a:xfrm>
            <a:off x="977900" y="3934271"/>
            <a:ext cx="7232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BACKLOG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2750741" y="393427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84250" y="4223097"/>
            <a:ext cx="1851620" cy="679301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1079500" y="4318347"/>
            <a:ext cx="1711920" cy="23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Dashboard</a:t>
            </a:r>
            <a:endParaRPr lang="en-US" sz="1231" dirty="0"/>
          </a:p>
        </p:txBody>
      </p:sp>
      <p:sp>
        <p:nvSpPr>
          <p:cNvPr id="55" name="Text 51"/>
          <p:cNvSpPr/>
          <p:nvPr/>
        </p:nvSpPr>
        <p:spPr>
          <a:xfrm>
            <a:off x="1079500" y="4594771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CA-10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2512020" y="458713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7" name="Text 53"/>
          <p:cNvSpPr/>
          <p:nvPr/>
        </p:nvSpPr>
        <p:spPr>
          <a:xfrm>
            <a:off x="2581473" y="4594771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984250" y="4991298"/>
            <a:ext cx="1851620" cy="679252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59" name="Text 55"/>
          <p:cNvSpPr/>
          <p:nvPr/>
        </p:nvSpPr>
        <p:spPr>
          <a:xfrm>
            <a:off x="1079500" y="5086548"/>
            <a:ext cx="1711920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</a:t>
            </a:r>
            <a:endParaRPr lang="en-US" sz="1231" dirty="0"/>
          </a:p>
        </p:txBody>
      </p:sp>
      <p:sp>
        <p:nvSpPr>
          <p:cNvPr id="60" name="Text 56"/>
          <p:cNvSpPr/>
          <p:nvPr/>
        </p:nvSpPr>
        <p:spPr>
          <a:xfrm>
            <a:off x="1079500" y="5362922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CA-11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2512020" y="5355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62" name="Text 58"/>
          <p:cNvSpPr/>
          <p:nvPr/>
        </p:nvSpPr>
        <p:spPr>
          <a:xfrm>
            <a:off x="2580134" y="5362922"/>
            <a:ext cx="143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200" dirty="0"/>
          </a:p>
        </p:txBody>
      </p:sp>
      <p:sp>
        <p:nvSpPr>
          <p:cNvPr id="63" name="Shape 59"/>
          <p:cNvSpPr/>
          <p:nvPr/>
        </p:nvSpPr>
        <p:spPr>
          <a:xfrm>
            <a:off x="2994620" y="3826966"/>
            <a:ext cx="2016770" cy="1926134"/>
          </a:xfrm>
          <a:prstGeom prst="roundRect">
            <a:avLst>
              <a:gd name="adj" fmla="val 4615"/>
            </a:avLst>
          </a:prstGeom>
          <a:solidFill>
            <a:srgbClr val="EEF1EB"/>
          </a:solidFill>
          <a:ln/>
        </p:spPr>
      </p:sp>
      <p:sp>
        <p:nvSpPr>
          <p:cNvPr id="64" name="Shape 60"/>
          <p:cNvSpPr/>
          <p:nvPr/>
        </p:nvSpPr>
        <p:spPr>
          <a:xfrm>
            <a:off x="2994620" y="3826966"/>
            <a:ext cx="2016770" cy="1926134"/>
          </a:xfrm>
          <a:custGeom>
            <a:avLst/>
            <a:gdLst/>
            <a:ahLst/>
            <a:cxnLst/>
            <a:rect l="l" t="t" r="r" b="b"/>
            <a:pathLst>
              <a:path w="2016770" h="1926134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1927870" y="0"/>
                </a:lnTo>
                <a:arcTo wR="88900" hR="88900" stAng="16200000" swAng="5400000"/>
                <a:lnTo>
                  <a:pt x="2016770" y="88900"/>
                </a:lnTo>
                <a:arcTo wR="88900" hR="50800" stAng="0" swAng="-5400000"/>
                <a:lnTo>
                  <a:pt x="88900" y="38100"/>
                </a:lnTo>
                <a:arcTo wR="88900" hR="50800" stAng="16200000" swAng="-5400000"/>
                <a:close/>
              </a:path>
            </a:pathLst>
          </a:custGeom>
          <a:solidFill>
            <a:srgbClr val="6B7A90"/>
          </a:solidFill>
          <a:ln/>
        </p:spPr>
      </p:sp>
      <p:sp>
        <p:nvSpPr>
          <p:cNvPr id="65" name="Text 61"/>
          <p:cNvSpPr/>
          <p:nvPr/>
        </p:nvSpPr>
        <p:spPr>
          <a:xfrm>
            <a:off x="3070820" y="3934271"/>
            <a:ext cx="4824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DO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4843711" y="393427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3077170" y="4223097"/>
            <a:ext cx="1851670" cy="679301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68" name="Text 64"/>
          <p:cNvSpPr/>
          <p:nvPr/>
        </p:nvSpPr>
        <p:spPr>
          <a:xfrm>
            <a:off x="3172420" y="4318347"/>
            <a:ext cx="1711970" cy="23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Evaluation</a:t>
            </a:r>
            <a:endParaRPr lang="en-US" sz="1231" dirty="0"/>
          </a:p>
        </p:txBody>
      </p:sp>
      <p:sp>
        <p:nvSpPr>
          <p:cNvPr id="69" name="Text 65"/>
          <p:cNvSpPr/>
          <p:nvPr/>
        </p:nvSpPr>
        <p:spPr>
          <a:xfrm>
            <a:off x="3172420" y="4594771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CA-08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4604990" y="458713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1" name="Text 67"/>
          <p:cNvSpPr/>
          <p:nvPr/>
        </p:nvSpPr>
        <p:spPr>
          <a:xfrm>
            <a:off x="4674443" y="4594771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72" name="Shape 68"/>
          <p:cNvSpPr/>
          <p:nvPr/>
        </p:nvSpPr>
        <p:spPr>
          <a:xfrm>
            <a:off x="3077170" y="4991298"/>
            <a:ext cx="1851670" cy="679252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73" name="Text 69"/>
          <p:cNvSpPr/>
          <p:nvPr/>
        </p:nvSpPr>
        <p:spPr>
          <a:xfrm>
            <a:off x="3172420" y="5086548"/>
            <a:ext cx="1711970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Leaderboard</a:t>
            </a:r>
            <a:endParaRPr lang="en-US" sz="1231" dirty="0"/>
          </a:p>
        </p:txBody>
      </p:sp>
      <p:sp>
        <p:nvSpPr>
          <p:cNvPr id="74" name="Text 70"/>
          <p:cNvSpPr/>
          <p:nvPr/>
        </p:nvSpPr>
        <p:spPr>
          <a:xfrm>
            <a:off x="3172420" y="5362922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CA-09</a:t>
            </a:r>
            <a:endParaRPr lang="en-US" sz="1200" dirty="0"/>
          </a:p>
        </p:txBody>
      </p:sp>
      <p:sp>
        <p:nvSpPr>
          <p:cNvPr id="75" name="Shape 71"/>
          <p:cNvSpPr/>
          <p:nvPr/>
        </p:nvSpPr>
        <p:spPr>
          <a:xfrm>
            <a:off x="4604990" y="5355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76" name="Text 72"/>
          <p:cNvSpPr/>
          <p:nvPr/>
        </p:nvSpPr>
        <p:spPr>
          <a:xfrm>
            <a:off x="4673104" y="5362922"/>
            <a:ext cx="143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200" dirty="0"/>
          </a:p>
        </p:txBody>
      </p:sp>
      <p:sp>
        <p:nvSpPr>
          <p:cNvPr id="77" name="Shape 73"/>
          <p:cNvSpPr/>
          <p:nvPr/>
        </p:nvSpPr>
        <p:spPr>
          <a:xfrm>
            <a:off x="5087590" y="3826966"/>
            <a:ext cx="2016770" cy="1926134"/>
          </a:xfrm>
          <a:prstGeom prst="roundRect">
            <a:avLst>
              <a:gd name="adj" fmla="val 4615"/>
            </a:avLst>
          </a:prstGeom>
          <a:solidFill>
            <a:srgbClr val="EEF1EB"/>
          </a:solidFill>
          <a:ln/>
        </p:spPr>
      </p:sp>
      <p:sp>
        <p:nvSpPr>
          <p:cNvPr id="78" name="Shape 74"/>
          <p:cNvSpPr/>
          <p:nvPr/>
        </p:nvSpPr>
        <p:spPr>
          <a:xfrm>
            <a:off x="5087590" y="3826966"/>
            <a:ext cx="2016770" cy="1926134"/>
          </a:xfrm>
          <a:custGeom>
            <a:avLst/>
            <a:gdLst/>
            <a:ahLst/>
            <a:cxnLst/>
            <a:rect l="l" t="t" r="r" b="b"/>
            <a:pathLst>
              <a:path w="2016770" h="1926134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1927870" y="0"/>
                </a:lnTo>
                <a:arcTo wR="88900" hR="88900" stAng="16200000" swAng="5400000"/>
                <a:lnTo>
                  <a:pt x="2016770" y="88900"/>
                </a:lnTo>
                <a:arcTo wR="88900" hR="50800" stAng="0" swAng="-5400000"/>
                <a:lnTo>
                  <a:pt x="88900" y="38100"/>
                </a:lnTo>
                <a:arcTo wR="88900" hR="50800" stAng="16200000" swAng="-5400000"/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79" name="Text 75"/>
          <p:cNvSpPr/>
          <p:nvPr/>
        </p:nvSpPr>
        <p:spPr>
          <a:xfrm>
            <a:off x="5163790" y="3934271"/>
            <a:ext cx="989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6936680" y="393427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81" name="Shape 77"/>
          <p:cNvSpPr/>
          <p:nvPr/>
        </p:nvSpPr>
        <p:spPr>
          <a:xfrm>
            <a:off x="5170140" y="4223097"/>
            <a:ext cx="1851670" cy="679301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FFB454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82" name="Text 78"/>
          <p:cNvSpPr/>
          <p:nvPr/>
        </p:nvSpPr>
        <p:spPr>
          <a:xfrm>
            <a:off x="5265390" y="4318347"/>
            <a:ext cx="1711970" cy="23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Contest Page</a:t>
            </a:r>
            <a:endParaRPr lang="en-US" sz="1231" dirty="0"/>
          </a:p>
        </p:txBody>
      </p:sp>
      <p:sp>
        <p:nvSpPr>
          <p:cNvPr id="83" name="Text 79"/>
          <p:cNvSpPr/>
          <p:nvPr/>
        </p:nvSpPr>
        <p:spPr>
          <a:xfrm>
            <a:off x="5265390" y="4594771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CA-06</a:t>
            </a:r>
            <a:endParaRPr lang="en-US" sz="1200" dirty="0"/>
          </a:p>
        </p:txBody>
      </p:sp>
      <p:sp>
        <p:nvSpPr>
          <p:cNvPr id="84" name="Shape 80"/>
          <p:cNvSpPr/>
          <p:nvPr/>
        </p:nvSpPr>
        <p:spPr>
          <a:xfrm>
            <a:off x="6697960" y="458713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85" name="Text 81"/>
          <p:cNvSpPr/>
          <p:nvPr/>
        </p:nvSpPr>
        <p:spPr>
          <a:xfrm>
            <a:off x="6766074" y="4594771"/>
            <a:ext cx="143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200" dirty="0"/>
          </a:p>
        </p:txBody>
      </p:sp>
      <p:sp>
        <p:nvSpPr>
          <p:cNvPr id="86" name="Shape 82"/>
          <p:cNvSpPr/>
          <p:nvPr/>
        </p:nvSpPr>
        <p:spPr>
          <a:xfrm>
            <a:off x="5170140" y="4991298"/>
            <a:ext cx="1851670" cy="679252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FFB454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87" name="Text 83"/>
          <p:cNvSpPr/>
          <p:nvPr/>
        </p:nvSpPr>
        <p:spPr>
          <a:xfrm>
            <a:off x="5265390" y="5086548"/>
            <a:ext cx="1711970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Submission</a:t>
            </a:r>
            <a:endParaRPr lang="en-US" sz="1231" dirty="0"/>
          </a:p>
        </p:txBody>
      </p:sp>
      <p:sp>
        <p:nvSpPr>
          <p:cNvPr id="88" name="Text 84"/>
          <p:cNvSpPr/>
          <p:nvPr/>
        </p:nvSpPr>
        <p:spPr>
          <a:xfrm>
            <a:off x="5265390" y="5362922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CA-07</a:t>
            </a:r>
            <a:endParaRPr lang="en-US" sz="1200" dirty="0"/>
          </a:p>
        </p:txBody>
      </p:sp>
      <p:sp>
        <p:nvSpPr>
          <p:cNvPr id="89" name="Shape 85"/>
          <p:cNvSpPr/>
          <p:nvPr/>
        </p:nvSpPr>
        <p:spPr>
          <a:xfrm>
            <a:off x="6697960" y="5355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0" name="Text 86"/>
          <p:cNvSpPr/>
          <p:nvPr/>
        </p:nvSpPr>
        <p:spPr>
          <a:xfrm>
            <a:off x="6767413" y="5362922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7180560" y="3826966"/>
            <a:ext cx="2016770" cy="1926134"/>
          </a:xfrm>
          <a:prstGeom prst="roundRect">
            <a:avLst>
              <a:gd name="adj" fmla="val 4615"/>
            </a:avLst>
          </a:prstGeom>
          <a:solidFill>
            <a:srgbClr val="EEF1EB"/>
          </a:solidFill>
          <a:ln/>
        </p:spPr>
      </p:sp>
      <p:sp>
        <p:nvSpPr>
          <p:cNvPr id="92" name="Shape 88"/>
          <p:cNvSpPr/>
          <p:nvPr/>
        </p:nvSpPr>
        <p:spPr>
          <a:xfrm>
            <a:off x="7180560" y="3826966"/>
            <a:ext cx="2016770" cy="1926134"/>
          </a:xfrm>
          <a:custGeom>
            <a:avLst/>
            <a:gdLst/>
            <a:ahLst/>
            <a:cxnLst/>
            <a:rect l="l" t="t" r="r" b="b"/>
            <a:pathLst>
              <a:path w="2016770" h="1926134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1927870" y="0"/>
                </a:lnTo>
                <a:arcTo wR="88900" hR="88900" stAng="16200000" swAng="5400000"/>
                <a:lnTo>
                  <a:pt x="2016770" y="88900"/>
                </a:lnTo>
                <a:arcTo wR="88900" hR="50800" stAng="0" swAng="-5400000"/>
                <a:lnTo>
                  <a:pt x="88900" y="38100"/>
                </a:lnTo>
                <a:arcTo wR="88900" hR="50800" stAng="16200000" swAng="-5400000"/>
                <a:close/>
              </a:path>
            </a:pathLst>
          </a:custGeom>
          <a:solidFill>
            <a:srgbClr val="5B8DEF"/>
          </a:solidFill>
          <a:ln/>
        </p:spPr>
      </p:sp>
      <p:sp>
        <p:nvSpPr>
          <p:cNvPr id="93" name="Text 89"/>
          <p:cNvSpPr/>
          <p:nvPr/>
        </p:nvSpPr>
        <p:spPr>
          <a:xfrm>
            <a:off x="7256760" y="3941266"/>
            <a:ext cx="6467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</a:t>
            </a:r>
            <a:endParaRPr lang="en-US" sz="1200" dirty="0"/>
          </a:p>
        </p:txBody>
      </p:sp>
      <p:sp>
        <p:nvSpPr>
          <p:cNvPr id="94" name="Text 90"/>
          <p:cNvSpPr/>
          <p:nvPr/>
        </p:nvSpPr>
        <p:spPr>
          <a:xfrm>
            <a:off x="9029650" y="3941266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95" name="Shape 91"/>
          <p:cNvSpPr/>
          <p:nvPr/>
        </p:nvSpPr>
        <p:spPr>
          <a:xfrm>
            <a:off x="7263110" y="4237137"/>
            <a:ext cx="1851670" cy="713730"/>
          </a:xfrm>
          <a:prstGeom prst="roundRect">
            <a:avLst>
              <a:gd name="adj" fmla="val 9787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96" name="Text 92"/>
          <p:cNvSpPr/>
          <p:nvPr/>
        </p:nvSpPr>
        <p:spPr>
          <a:xfrm>
            <a:off x="7358360" y="4332387"/>
            <a:ext cx="17119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API</a:t>
            </a:r>
            <a:endParaRPr lang="en-US" sz="1300" dirty="0"/>
          </a:p>
        </p:txBody>
      </p:sp>
      <p:sp>
        <p:nvSpPr>
          <p:cNvPr id="97" name="Text 93"/>
          <p:cNvSpPr/>
          <p:nvPr/>
        </p:nvSpPr>
        <p:spPr>
          <a:xfrm>
            <a:off x="7358360" y="4634657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CA-05</a:t>
            </a:r>
            <a:endParaRPr lang="en-US" sz="1200" dirty="0"/>
          </a:p>
        </p:txBody>
      </p:sp>
      <p:sp>
        <p:nvSpPr>
          <p:cNvPr id="98" name="Shape 94"/>
          <p:cNvSpPr/>
          <p:nvPr/>
        </p:nvSpPr>
        <p:spPr>
          <a:xfrm>
            <a:off x="8790930" y="462701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9" name="Text 95"/>
          <p:cNvSpPr/>
          <p:nvPr/>
        </p:nvSpPr>
        <p:spPr>
          <a:xfrm>
            <a:off x="8860383" y="4634657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100" name="Shape 96"/>
          <p:cNvSpPr/>
          <p:nvPr/>
        </p:nvSpPr>
        <p:spPr>
          <a:xfrm>
            <a:off x="9273530" y="3826966"/>
            <a:ext cx="2016770" cy="1926134"/>
          </a:xfrm>
          <a:prstGeom prst="roundRect">
            <a:avLst>
              <a:gd name="adj" fmla="val 4615"/>
            </a:avLst>
          </a:prstGeom>
          <a:solidFill>
            <a:srgbClr val="EEF1EB"/>
          </a:solidFill>
          <a:ln/>
        </p:spPr>
      </p:sp>
      <p:sp>
        <p:nvSpPr>
          <p:cNvPr id="101" name="Shape 97"/>
          <p:cNvSpPr/>
          <p:nvPr/>
        </p:nvSpPr>
        <p:spPr>
          <a:xfrm>
            <a:off x="9273530" y="3826966"/>
            <a:ext cx="2016770" cy="1926134"/>
          </a:xfrm>
          <a:custGeom>
            <a:avLst/>
            <a:gdLst/>
            <a:ahLst/>
            <a:cxnLst/>
            <a:rect l="l" t="t" r="r" b="b"/>
            <a:pathLst>
              <a:path w="2016770" h="1926134">
                <a:moveTo>
                  <a:pt x="0" y="88900"/>
                </a:moveTo>
                <a:lnTo>
                  <a:pt x="0" y="88900"/>
                </a:lnTo>
                <a:arcTo wR="88900" hR="88900" stAng="10800000" swAng="5400000"/>
                <a:lnTo>
                  <a:pt x="1927870" y="0"/>
                </a:lnTo>
                <a:arcTo wR="88900" hR="88900" stAng="16200000" swAng="5400000"/>
                <a:lnTo>
                  <a:pt x="2016770" y="88900"/>
                </a:lnTo>
                <a:arcTo wR="88900" hR="50800" stAng="0" swAng="-5400000"/>
                <a:lnTo>
                  <a:pt x="88900" y="38100"/>
                </a:lnTo>
                <a:arcTo wR="88900" hR="50800" stAng="16200000" swAng="-5400000"/>
                <a:close/>
              </a:path>
            </a:pathLst>
          </a:custGeom>
          <a:solidFill>
            <a:srgbClr val="3DDC97"/>
          </a:solidFill>
          <a:ln/>
        </p:spPr>
      </p:sp>
      <p:sp>
        <p:nvSpPr>
          <p:cNvPr id="102" name="Text 98"/>
          <p:cNvSpPr/>
          <p:nvPr/>
        </p:nvSpPr>
        <p:spPr>
          <a:xfrm>
            <a:off x="9349730" y="3934271"/>
            <a:ext cx="4418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DONE</a:t>
            </a:r>
            <a:endParaRPr lang="en-US" sz="1200" dirty="0"/>
          </a:p>
        </p:txBody>
      </p:sp>
      <p:sp>
        <p:nvSpPr>
          <p:cNvPr id="103" name="Text 99"/>
          <p:cNvSpPr/>
          <p:nvPr/>
        </p:nvSpPr>
        <p:spPr>
          <a:xfrm>
            <a:off x="11122620" y="393427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104" name="Shape 100"/>
          <p:cNvSpPr/>
          <p:nvPr/>
        </p:nvSpPr>
        <p:spPr>
          <a:xfrm>
            <a:off x="9356080" y="4223097"/>
            <a:ext cx="1851670" cy="679301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105" name="Text 101"/>
          <p:cNvSpPr/>
          <p:nvPr/>
        </p:nvSpPr>
        <p:spPr>
          <a:xfrm>
            <a:off x="9451330" y="4318347"/>
            <a:ext cx="1711970" cy="239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Login Page</a:t>
            </a:r>
            <a:endParaRPr lang="en-US" sz="1231" dirty="0"/>
          </a:p>
        </p:txBody>
      </p:sp>
      <p:pic>
        <p:nvPicPr>
          <p:cNvPr id="106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51330" y="4612531"/>
            <a:ext cx="177800" cy="177800"/>
          </a:xfrm>
          <a:prstGeom prst="rect">
            <a:avLst/>
          </a:prstGeom>
        </p:spPr>
      </p:pic>
      <p:sp>
        <p:nvSpPr>
          <p:cNvPr id="107" name="Text 102"/>
          <p:cNvSpPr/>
          <p:nvPr/>
        </p:nvSpPr>
        <p:spPr>
          <a:xfrm>
            <a:off x="9679930" y="4594771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CA-01</a:t>
            </a:r>
            <a:endParaRPr lang="en-US" sz="1200" dirty="0"/>
          </a:p>
        </p:txBody>
      </p:sp>
      <p:sp>
        <p:nvSpPr>
          <p:cNvPr id="108" name="Shape 103"/>
          <p:cNvSpPr/>
          <p:nvPr/>
        </p:nvSpPr>
        <p:spPr>
          <a:xfrm>
            <a:off x="10883900" y="458713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09" name="Text 104"/>
          <p:cNvSpPr/>
          <p:nvPr/>
        </p:nvSpPr>
        <p:spPr>
          <a:xfrm>
            <a:off x="10952014" y="4594771"/>
            <a:ext cx="1431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</a:t>
            </a:r>
            <a:endParaRPr lang="en-US" sz="1200" dirty="0"/>
          </a:p>
        </p:txBody>
      </p:sp>
      <p:sp>
        <p:nvSpPr>
          <p:cNvPr id="110" name="Shape 105"/>
          <p:cNvSpPr/>
          <p:nvPr/>
        </p:nvSpPr>
        <p:spPr>
          <a:xfrm>
            <a:off x="9356080" y="4991298"/>
            <a:ext cx="1851670" cy="679252"/>
          </a:xfrm>
          <a:prstGeom prst="roundRect">
            <a:avLst>
              <a:gd name="adj" fmla="val 10283"/>
            </a:avLst>
          </a:prstGeom>
          <a:solidFill>
            <a:srgbClr val="FCFDFB"/>
          </a:solidFill>
          <a:ln w="12700">
            <a:solidFill>
              <a:srgbClr val="DDE3DA"/>
            </a:solidFill>
            <a:prstDash val="solid"/>
          </a:ln>
          <a:effectLst>
            <a:outerShdw blurRad="38100" dist="12700" dir="5400000" algn="bl" rotWithShape="0">
              <a:srgbClr val="0E1726">
                <a:alpha val="8000"/>
              </a:srgbClr>
            </a:outerShdw>
          </a:effectLst>
        </p:spPr>
      </p:sp>
      <p:sp>
        <p:nvSpPr>
          <p:cNvPr id="111" name="Text 106"/>
          <p:cNvSpPr/>
          <p:nvPr/>
        </p:nvSpPr>
        <p:spPr>
          <a:xfrm>
            <a:off x="9451330" y="5086548"/>
            <a:ext cx="1711970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Setup</a:t>
            </a:r>
            <a:endParaRPr lang="en-US" sz="1231" dirty="0"/>
          </a:p>
        </p:txBody>
      </p:sp>
      <p:pic>
        <p:nvPicPr>
          <p:cNvPr id="112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51330" y="5380682"/>
            <a:ext cx="177800" cy="177800"/>
          </a:xfrm>
          <a:prstGeom prst="rect">
            <a:avLst/>
          </a:prstGeom>
        </p:spPr>
      </p:pic>
      <p:sp>
        <p:nvSpPr>
          <p:cNvPr id="113" name="Text 107"/>
          <p:cNvSpPr/>
          <p:nvPr/>
        </p:nvSpPr>
        <p:spPr>
          <a:xfrm>
            <a:off x="9679930" y="5362922"/>
            <a:ext cx="508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CA-02</a:t>
            </a:r>
            <a:endParaRPr lang="en-US" sz="1200" dirty="0"/>
          </a:p>
        </p:txBody>
      </p:sp>
      <p:sp>
        <p:nvSpPr>
          <p:cNvPr id="114" name="Shape 108"/>
          <p:cNvSpPr/>
          <p:nvPr/>
        </p:nvSpPr>
        <p:spPr>
          <a:xfrm>
            <a:off x="10883900" y="535528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5" name="Text 109"/>
          <p:cNvSpPr/>
          <p:nvPr/>
        </p:nvSpPr>
        <p:spPr>
          <a:xfrm>
            <a:off x="10953353" y="5362922"/>
            <a:ext cx="140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</a:t>
            </a:r>
            <a:endParaRPr lang="en-US" sz="1200" dirty="0"/>
          </a:p>
        </p:txBody>
      </p:sp>
      <p:sp>
        <p:nvSpPr>
          <p:cNvPr id="116" name="Text 110"/>
          <p:cNvSpPr/>
          <p:nvPr/>
        </p:nvSpPr>
        <p:spPr>
          <a:xfrm>
            <a:off x="812800" y="6238280"/>
            <a:ext cx="2542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CodeArena · Sambhav &amp; Tejas</a:t>
            </a:r>
            <a:endParaRPr lang="en-US" sz="1200" dirty="0"/>
          </a:p>
        </p:txBody>
      </p:sp>
      <p:sp>
        <p:nvSpPr>
          <p:cNvPr id="117" name="Text 111"/>
          <p:cNvSpPr/>
          <p:nvPr/>
        </p:nvSpPr>
        <p:spPr>
          <a:xfrm>
            <a:off x="10739090" y="623828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Tool &amp;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769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kern="0" spc="-5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Kanban Tool Demonstration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702991"/>
            <a:ext cx="2445891" cy="388590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6385A"/>
            </a:solidFill>
            <a:prstDash val="solid"/>
          </a:ln>
        </p:spPr>
      </p:sp>
      <p:pic>
        <p:nvPicPr>
          <p:cNvPr id="5" name="Image 0" descr="Too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7900" y="1795661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0000" y="1772841"/>
            <a:ext cx="189138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 Used: </a:t>
            </a:r>
            <a:r>
              <a:rPr lang="en-US" sz="1400" b="1" dirty="0">
                <a:solidFill>
                  <a:srgbClr val="3DDC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JIRA / Miro</a:t>
            </a:r>
            <a:endParaRPr lang="en-US" sz="1400" dirty="0"/>
          </a:p>
        </p:txBody>
      </p:sp>
      <p:pic>
        <p:nvPicPr>
          <p:cNvPr id="40" name="Kanban Board" descr="Jira-style Kanban board for CodeArena Sprint 2 with Backlog, To Do, In Progress, Testing and Done colum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" y="2209056"/>
            <a:ext cx="6203950" cy="3409950"/>
          </a:xfrm>
          <a:prstGeom prst="roundRect">
            <a:avLst>
              <a:gd name="adj" fmla="val 2500"/>
            </a:avLst>
          </a:prstGeom>
          <a:ln w="12700">
            <a:solidFill>
              <a:srgbClr val="2A3B55"/>
            </a:solidFill>
          </a:ln>
        </p:spPr>
      </p:pic>
      <p:sp>
        <p:nvSpPr>
          <p:cNvPr id="11" name="Text 7"/>
          <p:cNvSpPr/>
          <p:nvPr/>
        </p:nvSpPr>
        <p:spPr>
          <a:xfrm>
            <a:off x="7391400" y="1696641"/>
            <a:ext cx="41074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</a:t>
            </a:r>
            <a:endParaRPr lang="en-US" sz="1200" dirty="0"/>
          </a:p>
        </p:txBody>
      </p:sp>
      <p:pic>
        <p:nvPicPr>
          <p:cNvPr id="12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91400" y="2024261"/>
            <a:ext cx="203200" cy="203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96200" y="2024261"/>
            <a:ext cx="379349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CodeArena provides a structured platform for college coding contests.</a:t>
            </a:r>
            <a:endParaRPr lang="en-US" sz="1300" dirty="0"/>
          </a:p>
        </p:txBody>
      </p:sp>
      <p:pic>
        <p:nvPicPr>
          <p:cNvPr id="14" name="Image 3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91400" y="2584252"/>
            <a:ext cx="203200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96200" y="2584252"/>
            <a:ext cx="379349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Scrum divides development into manageable sprints.</a:t>
            </a:r>
            <a:endParaRPr lang="en-US" sz="1300" dirty="0"/>
          </a:p>
        </p:txBody>
      </p:sp>
      <p:pic>
        <p:nvPicPr>
          <p:cNvPr id="16" name="Image 4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91400" y="3144242"/>
            <a:ext cx="203200" cy="203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96200" y="3144242"/>
            <a:ext cx="379349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Kanban helps track tasks and team responsibilities.</a:t>
            </a:r>
            <a:endParaRPr lang="en-US" sz="1300" dirty="0"/>
          </a:p>
        </p:txBody>
      </p:sp>
      <p:pic>
        <p:nvPicPr>
          <p:cNvPr id="18" name="Image 5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91400" y="3704233"/>
            <a:ext cx="203200" cy="203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96200" y="3704233"/>
            <a:ext cx="379349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approach improves collaboration and project visibility.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7391400" y="4870500"/>
            <a:ext cx="3987800" cy="0"/>
          </a:xfrm>
          <a:prstGeom prst="line">
            <a:avLst/>
          </a:prstGeom>
          <a:noFill/>
          <a:ln w="12700">
            <a:solidFill>
              <a:srgbClr val="26385A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391400" y="5016550"/>
            <a:ext cx="410743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kern="0" spc="-100" dirty="0">
                <a:solidFill>
                  <a:srgbClr val="EEF2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2" name="Text 14"/>
          <p:cNvSpPr/>
          <p:nvPr/>
        </p:nvSpPr>
        <p:spPr>
          <a:xfrm>
            <a:off x="7391400" y="5521970"/>
            <a:ext cx="41074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DDC9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812800" y="6238280"/>
            <a:ext cx="386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CodeArena · Sambhav (I149) &amp; Tejas (I169)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0739090" y="6238280"/>
            <a:ext cx="6909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CodeArena – Scrum &amp; Kanban</dc:title>
  <dc:subject>PptxGenJS Presentation</dc:subject>
  <dc:creator>PptxGenJS</dc:creator>
  <cp:lastModifiedBy>tejas kute</cp:lastModifiedBy>
  <cp:revision>3</cp:revision>
  <dcterms:created xsi:type="dcterms:W3CDTF">2026-09-28T16:03:45Z</dcterms:created>
  <dcterms:modified xsi:type="dcterms:W3CDTF">2026-10-12T14:28:35Z</dcterms:modified>
</cp:coreProperties>
</file>